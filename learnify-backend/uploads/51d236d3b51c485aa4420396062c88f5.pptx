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6" r:id="rId10"/>
    <p:sldId id="271" r:id="rId11"/>
    <p:sldId id="272" r:id="rId12"/>
    <p:sldId id="273" r:id="rId13"/>
    <p:sldId id="274" r:id="rId14"/>
    <p:sldId id="275" r:id="rId15"/>
    <p:sldId id="277" r:id="rId16"/>
    <p:sldId id="278" r:id="rId17"/>
    <p:sldId id="26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E277D-13C7-41D3-B481-68B5621195D2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11DBD-E0BD-4B27-809F-C79F28C2E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00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6135-9F82-41E4-B09A-919BBCA60521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Software Engineering, Faculty of Computing , SUSL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75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E02BB-ADE7-4DDC-AE79-D92A83E1368B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Software Engineering, Faculty of Computing , SUSL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A8D7-9469-496C-BC96-D18A09420AD1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Software Engineering, Faculty of Computing , SUSL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393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16A1-5BAC-465C-BB2B-0097FC593D3D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Software Engineering, Faculty of Computing , SUSL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47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63F7B-8C5E-465D-B88B-99B9A02AEC39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Software Engineering, Faculty of Computing , SUSL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49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E440B-8FF5-4D1B-8759-899A9376A242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Software Engineering, Faculty of Computing , SUSL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83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BDCA8-4820-4AD2-B781-8BDA04F832B1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Software Engineering, Faculty of Computing , SUSL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2539BA3-3C3E-4973-BEB1-050361DCABD6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Department of Software Engineering, Faculty of Computing , SUSL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A23C849-3869-45D4-AA8E-BBC537F5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24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0173-3975-4EEE-9EC6-44C5D0F0893A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Software Engineering, Faculty of Computing , SUSL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63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75E3-2CFA-4A6C-9F7B-3E918549117A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Software Engineering, Faculty of Computing , SUSL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03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8B4C0-654D-4614-9CCB-3381C38034E5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Software Engineering, Faculty of Computing , SUSL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60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27B0BC8-7F97-40F2-B2B1-AAAFC12C2049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Software Engineering, Faculty of Computing , SUSL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A23C849-3869-45D4-AA8E-BBC537F51BA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179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wddlakshan@foc.sab.ac.lk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13645B7A-371F-8995-A565-C63CFA3C799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09601" y="4409221"/>
            <a:ext cx="7080738" cy="1886071"/>
          </a:xfrm>
        </p:spPr>
        <p:txBody>
          <a:bodyPr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W.D.D. Lakshan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Lecturer (Temp.)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Department of Software Engineering , Faculty of Computing,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Sabaragamuwa University of Sri Lanka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wddlakshan@foc.sab.ac.lk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+94 70 221 1134</a:t>
            </a: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7F69BD27-8C8B-F936-7CCB-1D8A4EF24F4A}"/>
              </a:ext>
            </a:extLst>
          </p:cNvPr>
          <p:cNvSpPr txBox="1">
            <a:spLocks/>
          </p:cNvSpPr>
          <p:nvPr/>
        </p:nvSpPr>
        <p:spPr>
          <a:xfrm>
            <a:off x="2555631" y="1606647"/>
            <a:ext cx="7080738" cy="209918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dirty="0">
                <a:latin typeface="Century Gothic" panose="020B0502020202020204" pitchFamily="34" charset="0"/>
              </a:rPr>
              <a:t>Management </a:t>
            </a:r>
          </a:p>
          <a:p>
            <a:pPr algn="ctr">
              <a:spcAft>
                <a:spcPts val="1200"/>
              </a:spcAft>
            </a:pPr>
            <a:r>
              <a:rPr lang="en-US" dirty="0">
                <a:latin typeface="Century Gothic" panose="020B0502020202020204" pitchFamily="34" charset="0"/>
              </a:rPr>
              <a:t>Information Systems</a:t>
            </a:r>
          </a:p>
          <a:p>
            <a:pPr algn="ctr">
              <a:spcAft>
                <a:spcPts val="1200"/>
              </a:spcAft>
            </a:pPr>
            <a:r>
              <a:rPr lang="en-US" dirty="0">
                <a:latin typeface="Century Gothic" panose="020B0502020202020204" pitchFamily="34" charset="0"/>
              </a:rPr>
              <a:t>SE4110   </a:t>
            </a:r>
          </a:p>
        </p:txBody>
      </p:sp>
    </p:spTree>
    <p:extLst>
      <p:ext uri="{BB962C8B-B14F-4D97-AF65-F5344CB8AC3E}">
        <p14:creationId xmlns:p14="http://schemas.microsoft.com/office/powerpoint/2010/main" val="3624361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08506-EAA7-9A6B-BB9D-ECF1DA7E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780FB88-DE2E-2BD0-2DF1-6B721CED5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The Financial Logic (Money)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18A430-C9CC-9B35-FECE-1F524F83A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 err="1">
                <a:latin typeface="Century Gothic" panose="020B0502020202020204" pitchFamily="34" charset="0"/>
              </a:rPr>
              <a:t>CapEx</a:t>
            </a:r>
            <a:r>
              <a:rPr lang="en-US" sz="2400" b="1" dirty="0">
                <a:latin typeface="Century Gothic" panose="020B0502020202020204" pitchFamily="34" charset="0"/>
              </a:rPr>
              <a:t> vs. </a:t>
            </a:r>
            <a:r>
              <a:rPr lang="en-US" sz="2400" b="1" dirty="0" err="1">
                <a:latin typeface="Century Gothic" panose="020B0502020202020204" pitchFamily="34" charset="0"/>
              </a:rPr>
              <a:t>OpEx</a:t>
            </a:r>
            <a:r>
              <a:rPr lang="en-US" sz="2400" b="1" dirty="0">
                <a:latin typeface="Century Gothic" panose="020B0502020202020204" pitchFamily="34" charset="0"/>
              </a:rPr>
              <a:t>: </a:t>
            </a:r>
          </a:p>
          <a:p>
            <a:pPr marL="527558" lvl="1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What is the difference between Capital Expenditure and Operational Expenditure? </a:t>
            </a:r>
          </a:p>
          <a:p>
            <a:pPr marL="527558" lvl="1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Why do startups prefer </a:t>
            </a:r>
            <a:r>
              <a:rPr lang="en-US" sz="2200" dirty="0" err="1">
                <a:latin typeface="Century Gothic" panose="020B0502020202020204" pitchFamily="34" charset="0"/>
              </a:rPr>
              <a:t>OpEx</a:t>
            </a:r>
            <a:r>
              <a:rPr lang="en-US" sz="2200" dirty="0">
                <a:latin typeface="Century Gothic" panose="020B0502020202020204" pitchFamily="34" charset="0"/>
              </a:rPr>
              <a:t> while established banks might prefer </a:t>
            </a:r>
            <a:r>
              <a:rPr lang="en-US" sz="2200" dirty="0" err="1">
                <a:latin typeface="Century Gothic" panose="020B0502020202020204" pitchFamily="34" charset="0"/>
              </a:rPr>
              <a:t>CapEx</a:t>
            </a:r>
            <a:r>
              <a:rPr lang="en-US" sz="2200" dirty="0">
                <a:latin typeface="Century Gothic" panose="020B0502020202020204" pitchFamily="34" charset="0"/>
              </a:rPr>
              <a:t>?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9AEBDB65-56AB-76B6-ACB7-54BD5B305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20EB50-223B-0555-62ED-0B3E503E4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2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109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F82F9-D84D-09A8-D6A9-19ED27F0E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8D733A5-081A-8952-701E-37D199AD3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The Financial Logic (Money)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096298-8DFF-A45C-DAEC-D53109221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Total Cost of Ownership (TCO):</a:t>
            </a:r>
          </a:p>
          <a:p>
            <a:pPr marL="527558" lvl="1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Does Cloud actually save money over 5–10 years, or just in the first 6 months? </a:t>
            </a:r>
          </a:p>
          <a:p>
            <a:pPr marL="527558" lvl="1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Research the "Hidden Costs of Cloud“.</a:t>
            </a:r>
          </a:p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Asset Depreciation: </a:t>
            </a:r>
          </a:p>
          <a:p>
            <a:pPr marL="527558" lvl="1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How does the value of physical hardware (servers) change over time on a company’s balance sheet?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8862B55F-8E41-712D-06F4-DF10BC53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87B1FA-4720-FA1B-C675-277651FA6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3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880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E8C44-1ABA-EC7B-D1CE-7BE69D4F7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FA0B0F-464D-9921-10D9-96E4D2AA9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The Architectural Logic (Performance)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24EA78-4B5C-740F-1E33-181E849BD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Scalability vs. Elasticity: </a:t>
            </a:r>
          </a:p>
          <a:p>
            <a:pPr marL="527558" lvl="1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They are not the same. If a website gets 1 million hits in 10 minutes, which one handles it? </a:t>
            </a:r>
          </a:p>
          <a:p>
            <a:pPr marL="527558" lvl="1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How does On-Premise handle a "Flash Sale" compared to Cloud?</a:t>
            </a:r>
          </a:p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Service Level Agreements (SLAs) &amp; "The Nines": </a:t>
            </a:r>
          </a:p>
          <a:p>
            <a:pPr marL="527558" lvl="1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What does "99.999% uptime" mean in terms of allowed downtime per year? </a:t>
            </a:r>
          </a:p>
          <a:p>
            <a:pPr marL="527558" lvl="1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Who is responsible if the system goes down in a Cloud model vs. On-Premise?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2B3DAD3-223A-7BFE-EE7C-8318225A5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4D10BC-9DAF-0754-8FAB-A78C6C38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4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337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3708F-95DB-4EFF-3331-D60ED3A83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F21249-878C-635E-44B5-50784342B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The Architectural Logic (Performance)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99DD2C-8CA7-C6B4-FCB6-348E34466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Latency &amp; Data Gravity: </a:t>
            </a:r>
          </a:p>
          <a:p>
            <a:pPr marL="527558" lvl="1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Why would a high-frequency trading firm or a manufacturing plant with IoT robots keep their MIS On-Premise instead of the Cloud?</a:t>
            </a:r>
            <a:endParaRPr lang="en-US" sz="2000" dirty="0">
              <a:latin typeface="Century Gothic" panose="020B0502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48FF4BE0-FB2E-919D-4B51-911289934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AE6BD-4F89-22FD-BF27-A2D67F0FC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5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865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FC8E1-10A0-B3CB-DC48-7096CFC16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50AC1E-680F-02C6-7E9A-3462AD58F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The Security &amp; Legal Logic (Risk)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B521F5-27AF-DC9C-B61C-5E88F823E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The Shared Responsibility Model: </a:t>
            </a:r>
          </a:p>
          <a:p>
            <a:pPr marL="527558" lvl="1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In AWS or Azure, if a hacker steals data because of a weak password, is it the Cloud Provider's fault or the Customer's fault?</a:t>
            </a:r>
          </a:p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Data Sovereignty &amp; Residency: </a:t>
            </a:r>
          </a:p>
          <a:p>
            <a:pPr marL="527558" lvl="1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What are the laws regarding where data is physically stored? (e.g., Can a Sri Lankan government agency store citizen data on a server located in the USA?).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E63F73E0-A433-629F-A51A-EE7B3D80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310B01-A5E7-3068-F827-238BE11F0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6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57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A16DC-9826-9120-5B94-3BD7DE3B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B53BBA0-2387-B0F9-F760-58350EF87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The Security &amp; Legal Logic (Risk)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B22BE1-D2D8-CB16-65F5-8822CF74F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Vendor Lock-in: </a:t>
            </a:r>
          </a:p>
          <a:p>
            <a:pPr marL="527558" lvl="1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What happens if you build your entire MIS on Google Cloud and they double their prices? </a:t>
            </a:r>
          </a:p>
          <a:p>
            <a:pPr marL="527558" lvl="1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How hard is it to move 50 Terabytes of data back to your own servers?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B8AF9B3-2835-DF8B-9784-3D059C62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25D1E9-F786-37D5-7BD4-D1ADFBD02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7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853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F55DD-1BA7-D565-F394-54B52A9CB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71E0A53-D08D-A80D-7F8E-646132F7D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Mobile Enablement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A6FF82-3F01-5BB1-B18D-103AD2ABB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Mobile Backend as a Service (</a:t>
            </a:r>
            <a:r>
              <a:rPr lang="en-US" sz="2400" b="1" dirty="0" err="1">
                <a:latin typeface="Century Gothic" panose="020B0502020202020204" pitchFamily="34" charset="0"/>
              </a:rPr>
              <a:t>MBaaS</a:t>
            </a:r>
            <a:r>
              <a:rPr lang="en-US" sz="2400" b="1" dirty="0">
                <a:latin typeface="Century Gothic" panose="020B0502020202020204" pitchFamily="34" charset="0"/>
              </a:rPr>
              <a:t>): </a:t>
            </a:r>
          </a:p>
          <a:p>
            <a:pPr marL="527558" lvl="1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How does Cloud infrastructure make it easier to push "Real-time Notifications" to a mobile MIS compared to an On-Premise server behind a firewall?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68F20C06-4439-EDED-F83D-6EA8BF3AC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0B8E3C-9C79-E730-E642-CDB36A90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8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264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13B2A-9B23-BCF0-27DE-FE657042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6FC084-ED76-678A-273D-A97A1BBA7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Further Research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E6A611E-C02A-FBA1-0CCB-1EE60FA51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Cloud Deployment Models</a:t>
            </a:r>
          </a:p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Shared Responsibility Model</a:t>
            </a:r>
          </a:p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"Bare Metal" infrastructure and Private Cloud.</a:t>
            </a:r>
          </a:p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Air-Gapping</a:t>
            </a:r>
          </a:p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How does the "Pay-as-you-go" model work?</a:t>
            </a:r>
          </a:p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Over-provisioning</a:t>
            </a:r>
          </a:p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en-US" sz="2400" b="1" dirty="0">
              <a:latin typeface="Century Gothic" panose="020B0502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04222A23-AA25-6E31-9280-9591820A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21DD39-C662-15C4-21FF-93947191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9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059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14B89-551B-F561-6939-87A8C1738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374FBD3-781B-D2F3-2150-4D6CA818C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Advantages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69BD45-F77F-BFA2-96DC-0531D33BE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Century Gothic" panose="020B0502020202020204" pitchFamily="34" charset="0"/>
              </a:rPr>
              <a:t>What are the advantages of cloud enables MIS?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9F5AAAC7-C585-9217-D02E-492EEE970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17F018-4C32-1AB9-4CC0-9C7792D08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10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461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E33F1-3434-30FF-F717-2C6EBE5BB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2F9A477-21BB-B266-E7EB-A1A52B201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Dis</a:t>
            </a:r>
            <a:r>
              <a:rPr lang="en-US" sz="3600" b="1" spc="0" dirty="0">
                <a:solidFill>
                  <a:prstClr val="black">
                    <a:lumMod val="85000"/>
                    <a:lumOff val="15000"/>
                  </a:prstClr>
                </a:solidFill>
                <a:latin typeface="Century Gothic" panose="020B0502020202020204"/>
              </a:rPr>
              <a:t>a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dvantages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2E49EA-A52C-F263-5BCA-A4C25CEE6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Century Gothic" panose="020B0502020202020204" pitchFamily="34" charset="0"/>
              </a:rPr>
              <a:t>What are the Disadvantages of cloud enables MIS?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14D65E0F-9DB4-6296-85C3-F4845AA8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2F80A1-88F1-32F1-644F-D8D5B166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11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475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C7F6A-03E5-6F98-0122-87BA8174C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4C696C-2EB1-5969-F942-EAB532CD2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Advantages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F232A20-CEE4-38D8-6594-F743B97D0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Century Gothic" panose="020B0502020202020204" pitchFamily="34" charset="0"/>
              </a:rPr>
              <a:t>What are the advantages of on premises MIS?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8401C5A1-F939-123C-6993-477709444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8198F7-C4A1-5063-F70A-39AC3E587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12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5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22EB6-D427-D7C9-CE34-2C45E019B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65DB621-6CF6-4772-5BF7-4A8EAFD7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Dis</a:t>
            </a:r>
            <a:r>
              <a:rPr lang="en-US" sz="3600" b="1" spc="0" dirty="0">
                <a:solidFill>
                  <a:prstClr val="black">
                    <a:lumMod val="85000"/>
                    <a:lumOff val="15000"/>
                  </a:prstClr>
                </a:solidFill>
                <a:latin typeface="Century Gothic" panose="020B0502020202020204"/>
              </a:rPr>
              <a:t>a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dvantages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740FF1-EBA7-551D-8182-EE413F6D4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Century Gothic" panose="020B0502020202020204" pitchFamily="34" charset="0"/>
              </a:rPr>
              <a:t>What are the Disadvantages of on premises MIS?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E266685-9D85-99FE-1101-D2A19E5F8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C45E76-85DB-1BDA-124B-6A58A955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13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666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E3333-549F-A4CF-D22A-8AF4A49AF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B1B089-D570-D5CE-3D4D-6F1F3568D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Century Gothic" panose="020B0502020202020204" pitchFamily="34" charset="0"/>
              </a:rPr>
              <a:t>Group A (Pro-Cloud)</a:t>
            </a:r>
          </a:p>
          <a:p>
            <a:pPr marL="234950" indent="-2349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Century Gothic" panose="020B0502020202020204" pitchFamily="34" charset="0"/>
              </a:rPr>
              <a:t>Group B (Pro-On-Premise).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1757A70D-579E-B93C-4B1B-A1608F527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D8EBA6-95C0-4F40-8686-37AD0F7F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14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10843834-BAFC-56E9-2404-2BF201F22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Debate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964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03BE8-557F-ABB4-E185-0919DE85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1723B16-A9B1-788A-FF9C-617AD0C36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400" dirty="0">
                <a:latin typeface="Century Gothic" panose="020B0502020202020204" pitchFamily="34" charset="0"/>
              </a:rPr>
              <a:t>"A large Private Hospital in Colombo is upgrading its Management Information System. They handle sensitive patient surgery records, real-time heart-monitor data (IoT), and they want doctors to access records via iPads. </a:t>
            </a:r>
          </a:p>
          <a:p>
            <a:pPr marL="0" indent="0" algn="just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400" dirty="0">
                <a:latin typeface="Century Gothic" panose="020B0502020202020204" pitchFamily="34" charset="0"/>
              </a:rPr>
              <a:t>Group A must argue why they should go 100% Cloud. </a:t>
            </a:r>
          </a:p>
          <a:p>
            <a:pPr marL="0" indent="0" algn="just"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2400" dirty="0">
                <a:latin typeface="Century Gothic" panose="020B0502020202020204" pitchFamily="34" charset="0"/>
              </a:rPr>
              <a:t>Group B must argue why they should stay 100% On-Premise."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6E414A98-EDC7-81E6-6439-720AFC66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852329-90BE-A920-5019-FEC5C854F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15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134C4CC1-5691-5C12-4884-2DEA22E0D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Debate Scenario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635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8AE0F-79D5-8CD5-845F-99BCD6AAC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B5E78F-1F26-84FF-1CE0-0FA0CABBA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85750" indent="-2857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Constructive Speeches (3 mins each): </a:t>
            </a:r>
          </a:p>
          <a:p>
            <a:pPr marL="578358" lvl="1" indent="-2857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Use the researched theories to build your case.</a:t>
            </a:r>
          </a:p>
          <a:p>
            <a:pPr marL="285750" indent="-2857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Cross-Examination (2 mins each):</a:t>
            </a:r>
          </a:p>
          <a:p>
            <a:pPr marL="578358" lvl="1" indent="-2857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Ask the other group a "thinking" question based on their research.</a:t>
            </a:r>
          </a:p>
          <a:p>
            <a:pPr marL="285750" indent="-2857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latin typeface="Century Gothic" panose="020B0502020202020204" pitchFamily="34" charset="0"/>
              </a:rPr>
              <a:t>The "Pivot" (2 mins each): </a:t>
            </a:r>
          </a:p>
          <a:p>
            <a:pPr marL="578358" lvl="1" indent="-285750" algn="just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Century Gothic" panose="020B0502020202020204" pitchFamily="34" charset="0"/>
              </a:rPr>
              <a:t>The lecturer introduces a "Crisis" and groups must explain how their infrastructure survives.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22C4C471-8359-CE09-8585-ABFD9DC37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7D81B9-7309-F60D-DB34-0FF710D7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16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B4CDBB61-8BE6-4842-17CD-02D01D61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Debate </a:t>
            </a:r>
            <a:r>
              <a:rPr lang="en-US" sz="3600" b="1" spc="0" dirty="0">
                <a:solidFill>
                  <a:prstClr val="black">
                    <a:lumMod val="85000"/>
                    <a:lumOff val="15000"/>
                  </a:prstClr>
                </a:solidFill>
                <a:latin typeface="Century Gothic" panose="020B0502020202020204"/>
              </a:rPr>
              <a:t>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859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8C5B5-151B-9164-56FF-732486873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C223F51-B27A-C088-7D15-38F750F48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137138"/>
            <a:ext cx="10058400" cy="600222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Questions?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1C40BB-BC29-0C78-C810-116213C3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17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9BF848A6-9FB8-FF97-CAFF-528B47410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0E5028-7101-ED2B-FFDE-07B6442D3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892" y="2064010"/>
            <a:ext cx="5072216" cy="405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01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FBB3D-159B-63AD-24CC-7A731ACFF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BFB795-5006-8007-1228-8C165934E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3C849-3869-45D4-AA8E-BBC537F51BA7}" type="slidenum">
              <a:rPr lang="en-US" sz="1200" smtClean="0">
                <a:latin typeface="Century Gothic" panose="020B0502020202020204" pitchFamily="34" charset="0"/>
              </a:rPr>
              <a:t>18</a:t>
            </a:fld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72B1CCFC-0396-5EAB-6B7B-5105D8278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04141" y="6448432"/>
            <a:ext cx="5844677" cy="365125"/>
          </a:xfrm>
        </p:spPr>
        <p:txBody>
          <a:bodyPr/>
          <a:lstStyle/>
          <a:p>
            <a:r>
              <a:rPr lang="en-US" sz="1200" dirty="0">
                <a:latin typeface="Century Gothic" panose="020B0502020202020204" pitchFamily="34" charset="0"/>
              </a:rPr>
              <a:t>Department of Software Engineering, Faculty of Computing , SUSL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3F6B83-8C7E-3592-D23F-0641225CA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387" y="795342"/>
            <a:ext cx="7847225" cy="526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7119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847</TotalTime>
  <Words>811</Words>
  <Application>Microsoft Office PowerPoint</Application>
  <PresentationFormat>Widescreen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Wingdings</vt:lpstr>
      <vt:lpstr>Retrospect</vt:lpstr>
      <vt:lpstr>PowerPoint Presentation</vt:lpstr>
      <vt:lpstr>The Financial Logic (Money)</vt:lpstr>
      <vt:lpstr>The Financial Logic (Money)</vt:lpstr>
      <vt:lpstr>The Architectural Logic (Performance)</vt:lpstr>
      <vt:lpstr>The Architectural Logic (Performance)</vt:lpstr>
      <vt:lpstr>The Security &amp; Legal Logic (Risk)</vt:lpstr>
      <vt:lpstr>The Security &amp; Legal Logic (Risk)</vt:lpstr>
      <vt:lpstr>Mobile Enablement</vt:lpstr>
      <vt:lpstr>Further Research</vt:lpstr>
      <vt:lpstr>Advantages</vt:lpstr>
      <vt:lpstr>Disadvantages</vt:lpstr>
      <vt:lpstr>Advantages</vt:lpstr>
      <vt:lpstr>Disadvantages</vt:lpstr>
      <vt:lpstr>Debate</vt:lpstr>
      <vt:lpstr>Debate Scenario</vt:lpstr>
      <vt:lpstr>Debate Flow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Dimuthu Lakshan</dc:creator>
  <cp:lastModifiedBy>Dimuthu Lakshan</cp:lastModifiedBy>
  <cp:revision>67</cp:revision>
  <dcterms:created xsi:type="dcterms:W3CDTF">2026-02-24T15:12:26Z</dcterms:created>
  <dcterms:modified xsi:type="dcterms:W3CDTF">2026-05-11T14:38:29Z</dcterms:modified>
</cp:coreProperties>
</file>